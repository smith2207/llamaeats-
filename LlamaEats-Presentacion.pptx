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LlamaEats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08152"/>
                </a:solidFill>
                <a:latin typeface="Calibri"/>
              </a:rPr>
              <a:t>Plan de Marketing — Reservas de mesa en restaurantes de Puno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F5EFE6"/>
                </a:solidFill>
                <a:latin typeface="Calibri"/>
              </a:rPr>
              <a:t>Universidad Nacional del Altiplano · Curso de Marketing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EFE6"/>
                </a:solidFill>
                <a:latin typeface="Calibri"/>
              </a:rPr>
              <a:t>Docente: Roger Miranda Bellido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EFE6"/>
                </a:solidFill>
                <a:latin typeface="Calibri"/>
              </a:rPr>
              <a:t>Branly Paucar · Edison Sayritupa · Fernando Mamani · El Patrón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EFE6"/>
                </a:solidFill>
                <a:latin typeface="Calibri"/>
              </a:rPr>
              <a:t>Puno, Perú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LlamaEats, de un vistazo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59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4408"/>
                <a:gridCol w="7616951"/>
              </a:tblGrid>
              <a:tr h="66620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Respuesta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¿Cuál es el producto?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Plataforma web (PWA) de reservas de mesa en restaurantes de Puno.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¿Qué necesidad satisface?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Elimina la incertidumbre de reservar por teléfono, para el comensal y el restaurante.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¿Quién es el cliente?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Turistas y locales de Puno (comensal); restaurantes de vista al lago, peña con show y comida típica (oferta).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¿Propuesta de valor?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Gratis para el comensal; comisión de S/2–S/4 al restaurante, solo si la mesa fue atendida.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¿Mercado objetivo?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Puno ciudad y distritos turísticos del lago Titicaca.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¿Estrategia general?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Penetración de mercado + diferenciación, con la campaña “Tu Mesa Te Espera”.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Reservar mesa en Puno todavía depende del teléfono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Para el comensal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Para el restaurante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A221C"/>
                          </a:solidFill>
                          <a:latin typeface="Calibri"/>
                        </a:rPr>
                        <a:t>Línea ocupada o nadie contesta en la hora pico.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A221C"/>
                          </a:solidFill>
                          <a:latin typeface="Calibri"/>
                        </a:rPr>
                        <a:t>Agenda a mano, con riesgo constante de doble reserva.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A221C"/>
                          </a:solidFill>
                          <a:latin typeface="Calibri"/>
                        </a:rPr>
                        <a:t>Ninguna confirmación real de que habrá mesa.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A221C"/>
                          </a:solidFill>
                          <a:latin typeface="Calibri"/>
                        </a:rPr>
                        <a:t>No hay forma de ver la ocupación en tiempo real.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A221C"/>
                          </a:solidFill>
                          <a:latin typeface="Calibri"/>
                        </a:rPr>
                        <a:t>Riesgo de trasladarse y quedarse sin mesa.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A221C"/>
                          </a:solidFill>
                          <a:latin typeface="Calibri"/>
                        </a:rPr>
                        <a:t>Se pierden clientes en la hora pico sin poder atender el teléfono.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EL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Cómo funciona, en tres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899"/>
                <a:gridCol w="848746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Paso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Qué hace el comensal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A221C"/>
                          </a:solidFill>
                          <a:latin typeface="Calibri"/>
                        </a:rPr>
                        <a:t>1. Busca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A221C"/>
                          </a:solidFill>
                          <a:latin typeface="Calibri"/>
                        </a:rPr>
                        <a:t>Filtra por categoría, distrito, fecha, hora y número de personas.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A221C"/>
                          </a:solidFill>
                          <a:latin typeface="Calibri"/>
                        </a:rPr>
                        <a:t>2. Elige su mesa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A221C"/>
                          </a:solidFill>
                          <a:latin typeface="Calibri"/>
                        </a:rPr>
                        <a:t>Selecciona la mesa en el plano visual del restaurante y confirma, sin pagar nada.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A221C"/>
                          </a:solidFill>
                          <a:latin typeface="Calibri"/>
                        </a:rPr>
                        <a:t>3. Muestra su código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A221C"/>
                          </a:solidFill>
                          <a:latin typeface="Calibri"/>
                        </a:rPr>
                        <a:t>Presenta el código y QR al llegar. Sin filas, su mesa lo espera.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A83E22"/>
                </a:solidFill>
                <a:latin typeface="Calibri"/>
              </a:rPr>
              <a:t>▸ Del lado del restaurante:</a:t>
            </a:r>
            <a:r>
              <a:rPr sz="1500">
                <a:solidFill>
                  <a:srgbClr val="2A221C"/>
                </a:solidFill>
                <a:latin typeface="Calibri"/>
              </a:rPr>
              <a:t>  un panel único con agenda en vivo, reservas telefónicas y de mostrador, y modo sin conexión a internet.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PROPUESTA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Gratis para el comensal, comisión por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5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017"/>
                <a:gridCol w="4570171"/>
                <a:gridCol w="4570171"/>
              </a:tblGrid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 el comensal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 el restaurante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Necesita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Asegurar mesa sin llamadas inciertas.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Gestionar reservas sin perder tiempo ni clientes.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Ofrecemos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Plataforma gratuita con confirmación inmediata y QR.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Panel centralizado con agenda en vivo y modo offline.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Permite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Elegir la mesa exacta desde el celular en minutos.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Atender más mesas con menos errores de doble reserva.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A diferencia de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Reservar por teléfono o llegar sin reserva.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Cuadernos de reservas que nadie más ve.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ANÁLISIS DEL ENTORNO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PESTEL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8705088"/>
              </a:tblGrid>
              <a:tr h="67273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Situación encontrada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672737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Político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Programas de promoción turística del lago Titicaca; riesgo de bloqueos e inestabilidad social.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Económico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Turismo como motor económico clave; sector gastronómico informal; demanda muy estacional.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672737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Población joven con smartphone; turista internacional ya espera reservar en línea.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Tecnológico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Buena conectividad en la ciudad, limitada en islas; formato PWA sin descarga de app.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672737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Ecológico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El lago Titicaca es el atractivo central; sensibilidad creciente a su conservación.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7273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Legal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Exige licencia municipal y certificado sanitario; aplica la Ley de Protección de Datos.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MERCADO Y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¿A quién le hablamos?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8705088"/>
              </a:tblGrid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A221C"/>
                          </a:solidFill>
                          <a:latin typeface="Calibri"/>
                        </a:rPr>
                        <a:t>Mercado objetivo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A221C"/>
                          </a:solidFill>
                          <a:latin typeface="Calibri"/>
                        </a:rPr>
                        <a:t>Restaurantes de vista al lago, peña con show y comida típica en Puno y distritos turísticos aledaños.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A221C"/>
                          </a:solidFill>
                          <a:latin typeface="Calibri"/>
                        </a:rPr>
                        <a:t>Edad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A221C"/>
                          </a:solidFill>
                          <a:latin typeface="Calibri"/>
                        </a:rPr>
                        <a:t>25–45 años (turistas 18–30, locales 30–55 en ocasiones especiales).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A221C"/>
                          </a:solidFill>
                          <a:latin typeface="Calibri"/>
                        </a:rPr>
                        <a:t>Ubicación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A221C"/>
                          </a:solidFill>
                          <a:latin typeface="Calibri"/>
                        </a:rPr>
                        <a:t>Puno ciudad y distritos del lago Titicaca.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A221C"/>
                          </a:solidFill>
                          <a:latin typeface="Calibri"/>
                        </a:rPr>
                        <a:t>Intereses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A221C"/>
                          </a:solidFill>
                          <a:latin typeface="Calibri"/>
                        </a:rPr>
                        <a:t>Gastronomía, turismo vivencial, folclore andino, paisaje.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A221C"/>
                          </a:solidFill>
                          <a:latin typeface="Calibri"/>
                        </a:rPr>
                        <a:t>Comportamiento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A221C"/>
                          </a:solidFill>
                          <a:latin typeface="Calibri"/>
                        </a:rPr>
                        <a:t>Planifica su viaje desde el celular, compara reseñas, valora la confirmación inmediata.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SEGMENTACIÓN, TARGETING Y POSICIONAMIENTO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STP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8705088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Segmentación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Geográfica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Puno ciudad y distritos del lago Titicaca.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Demográfica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18–55 años, turistas y población local NSE B/C.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Psicográfica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Valoran conveniencia y planificación anticipada.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Conductual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Reservan servicios turísticos en línea, sensibles a la inmediatez.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7091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A83E22"/>
                </a:solidFill>
                <a:latin typeface="Calibri"/>
              </a:rPr>
              <a:t>▸ Posicionamiento:</a:t>
            </a:r>
            <a:r>
              <a:rPr sz="1400">
                <a:solidFill>
                  <a:srgbClr val="2A221C"/>
                </a:solidFill>
                <a:latin typeface="Calibri"/>
              </a:rPr>
              <a:t>  “La forma más rápida y segura de asegurar tu mesa en los restaurantes con más encanto de Puno.”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A83E22"/>
                </a:solidFill>
                <a:latin typeface="Calibri"/>
              </a:rPr>
              <a:t>▸ Diferenciación:</a:t>
            </a:r>
            <a:r>
              <a:rPr sz="1400">
                <a:solidFill>
                  <a:srgbClr val="2A221C"/>
                </a:solidFill>
                <a:latin typeface="Calibri"/>
              </a:rPr>
              <a:t>  gratis para el comensal, pensado para Puno, panel offline, comisión solo por resultado.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DIAGNÓSTICO ESTRATÉGICO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FODA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33172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Fortalezas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150">
                          <a:solidFill>
                            <a:srgbClr val="F5EFE6"/>
                          </a:solidFill>
                          <a:latin typeface="Calibri"/>
                        </a:rPr>
                        <a:t>• Pionero en digitalizar reservas en Puno.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150">
                          <a:solidFill>
                            <a:srgbClr val="F5EFE6"/>
                          </a:solidFill>
                          <a:latin typeface="Calibri"/>
                        </a:rPr>
                        <a:t>• Gratis para el comensal: sin barrera de adopción.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150">
                          <a:solidFill>
                            <a:srgbClr val="F5EFE6"/>
                          </a:solidFill>
                          <a:latin typeface="Calibri"/>
                        </a:rPr>
                        <a:t>• Panel de restaurante que funciona sin internet.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150">
                          <a:solidFill>
                            <a:srgbClr val="F5EFE6"/>
                          </a:solidFill>
                          <a:latin typeface="Calibri"/>
                        </a:rPr>
                        <a:t>• Restaurantes verificados (licencia + sanitario).</a:t>
                      </a:r>
                    </a:p>
                  </a:txBody>
                  <a:tcPr marL="137160" marR="137160" marT="91440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Oportunidades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150">
                          <a:solidFill>
                            <a:srgbClr val="F5EFE6"/>
                          </a:solidFill>
                          <a:latin typeface="Calibri"/>
                        </a:rPr>
                        <a:t>• Crecimiento del turismo receptivo del lago Titicaca.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150">
                          <a:solidFill>
                            <a:srgbClr val="F5EFE6"/>
                          </a:solidFill>
                          <a:latin typeface="Calibri"/>
                        </a:rPr>
                        <a:t>• Muy baja digitalización del sector gastronómico.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150">
                          <a:solidFill>
                            <a:srgbClr val="F5EFE6"/>
                          </a:solidFill>
                          <a:latin typeface="Calibri"/>
                        </a:rPr>
                        <a:t>• Alianzas con hoteles, agencias y gobierno regional.</a:t>
                      </a:r>
                    </a:p>
                  </a:txBody>
                  <a:tcPr marL="137160" marR="137160" marT="91440">
                    <a:solidFill>
                      <a:srgbClr val="0E2A44"/>
                    </a:solidFill>
                  </a:tcPr>
                </a:tc>
              </a:tr>
              <a:tr h="233172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Debilidades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150">
                          <a:solidFill>
                            <a:srgbClr val="F5EFE6"/>
                          </a:solidFill>
                          <a:latin typeface="Calibri"/>
                        </a:rPr>
                        <a:t>• Base de restaurantes afiliados en cero al inicio.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150">
                          <a:solidFill>
                            <a:srgbClr val="F5EFE6"/>
                          </a:solidFill>
                          <a:latin typeface="Calibri"/>
                        </a:rPr>
                        <a:t>• Sin pasarela de pago real para la comisión.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150">
                          <a:solidFill>
                            <a:srgbClr val="F5EFE6"/>
                          </a:solidFill>
                          <a:latin typeface="Calibri"/>
                        </a:rPr>
                        <a:t>• Depende de que el restaurante marque bien la asistencia.</a:t>
                      </a:r>
                    </a:p>
                  </a:txBody>
                  <a:tcPr marL="137160" marR="137160" marT="91440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Amenazas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150">
                          <a:solidFill>
                            <a:srgbClr val="F5EFE6"/>
                          </a:solidFill>
                          <a:latin typeface="Calibri"/>
                        </a:rPr>
                        <a:t>• Estacionalidad turística marcada.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150">
                          <a:solidFill>
                            <a:srgbClr val="F5EFE6"/>
                          </a:solidFill>
                          <a:latin typeface="Calibri"/>
                        </a:rPr>
                        <a:t>• Riesgo de bloqueos de vías o inestabilidad social.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1150">
                          <a:solidFill>
                            <a:srgbClr val="F5EFE6"/>
                          </a:solidFill>
                          <a:latin typeface="Calibri"/>
                        </a:rPr>
                        <a:t>• Posible entrada de competidores nacionales.</a:t>
                      </a:r>
                    </a:p>
                  </a:txBody>
                  <a:tcPr marL="137160" marR="137160" marT="91440">
                    <a:solidFill>
                      <a:srgbClr val="0E2A4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DIAGNÓSTICO ESTRATÉGICO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Objetivos SMART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5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09"/>
                <a:gridCol w="4301933"/>
                <a:gridCol w="3795823"/>
                <a:gridCol w="2277493"/>
              </a:tblGrid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Objetivo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Plazo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Afiliar restaurantes ancla verificados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15 restaurantes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3 meses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Generar volumen de reservas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500 reservas confirmadas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6 meses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Controlar la inasistencia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Tasa de atención &gt; 70%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1er semestre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Construir base de usuarios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2,000 comensales registrados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6 meses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Validar el modelo de comisión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S/3,000 acumulados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6 meses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MARKETING MIX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Producto y Precio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5212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228"/>
                <a:gridCol w="3387852"/>
              </a:tblGrid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Beneficio básico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Asegurar una mesa.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Producto real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Buscador, mesa en plano, código y QR, panel con modo offline.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Producto aumentado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Verificación, lista de espera, ficha del comensal, reprogramación.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645920"/>
          <a:ext cx="5212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228"/>
                <a:gridCol w="3387852"/>
              </a:tblGrid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Precio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Estrategia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Freemium de doble cara, sin costo de entrada.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Escala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S/2 (1–2 personas) · S/3 (3–4) · S/4 (5+).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Momento del cobro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Solo si la mesa fue efectivamente atendida.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MARKETING MIX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Plaza y Promoción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5212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228"/>
                <a:gridCol w="3387852"/>
              </a:tblGrid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Plaza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Canales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Plataforma web propia, responsive e instalable (PWA).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Cobertura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Puno ciudad, distritos del lago, islas turísticas.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Intermediarios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Ninguno — modelo directo comensal–restaurante.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645920"/>
          <a:ext cx="5212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228"/>
                <a:gridCol w="3387852"/>
              </a:tblGrid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Promoción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Campaña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“Tu Mesa Te Espera”, lanzamiento sin listas de espera.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Redes sociales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Instagram, Facebook, TikTok.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Comunicación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Soporte cercano por WhatsApp Business.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INVESTIGACIÓN DE MERCADOS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Lo que nos dijeron 80 comensales y 5 restaurantes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5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54"/>
                <a:gridCol w="10446105"/>
              </a:tblGrid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78% tuvo al menos una mala experiencia reservando por teléfono en Puno.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64% reservaría con más frecuencia si pudiera confirmar al instante.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91% valoró que la reserva no tuviera costo para el comensal.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4 de 5 restaurantes interesados, con dudas sobre no-shows y cobro de comisión.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A221C"/>
                          </a:solidFill>
                          <a:latin typeface="Calibri"/>
                        </a:rPr>
                        <a:t>55% de los turistas decide dónde comer por recomendación del hotel o guía.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13 / 15 — datos hipotéticos con fines académicos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Plan de acción y presupuesto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60350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4526279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Primeras semanas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1–4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Afiliar y verificar 15 restaurantes ancla.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Lanzar la campaña “Tu Mesa Te Espera”.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3–6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Cerrar alianzas con 5 hoteles/agencias.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8–10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Campaña especial Festividad de la Candelaria.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645920"/>
          <a:ext cx="457199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8210"/>
                <a:gridCol w="1443789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S/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Publicidad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Diseño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Producción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Distribución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Otros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21C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1502E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E2A44"/>
                </a:solidFill>
                <a:latin typeface="Calibri"/>
              </a:rPr>
              <a:t>Indicadores y conclusión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" cy="63500"/>
          </a:xfrm>
          <a:prstGeom prst="rect">
            <a:avLst/>
          </a:prstGeom>
          <a:solidFill>
            <a:srgbClr val="E08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5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4408"/>
                <a:gridCol w="7616951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Qué mide</a:t>
                      </a:r>
                    </a:p>
                  </a:txBody>
                  <a:tcPr marL="73152" marR="73152" marT="36576" marB="36576" anchor="ctr">
                    <a:solidFill>
                      <a:srgbClr val="C1502E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Restaurantes afiliados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Crecimiento de la oferta disponible.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Reservas confirmadas / mes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Volumen de uso efectivo.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Tasa de atención vs. no-show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Confiabilidad del sistema.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Comisión generada / mes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Ingresos reales del modelo.</a:t>
                      </a:r>
                    </a:p>
                  </a:txBody>
                  <a:tcPr marL="73152" marR="73152" marT="36576" marB="36576" anchor="ctr">
                    <a:solidFill>
                      <a:srgbClr val="FAF6F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Tasa de conversión y recompra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A221C"/>
                          </a:solidFill>
                          <a:latin typeface="Calibri"/>
                        </a:rPr>
                        <a:t>Eficiencia y fidelización.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A83E22"/>
                </a:solidFill>
                <a:latin typeface="Calibri"/>
              </a:rPr>
              <a:t>▸ Conclusión:</a:t>
            </a:r>
            <a:r>
              <a:rPr sz="1500">
                <a:solidFill>
                  <a:srgbClr val="2A221C"/>
                </a:solidFill>
                <a:latin typeface="Calibri"/>
              </a:rPr>
              <a:t>  LlamaEats resuelve una necesidad real en un mercado con muy poca digitalización, sin exigir nada por adelantado a ninguno de los dos lados.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7E70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